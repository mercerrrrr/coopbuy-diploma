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Объём рынка e-grocery, млрд руб.</c:v>
                </c:pt>
              </c:strCache>
            </c:strRef>
          </c:tx>
          <c:spPr>
            <a:solidFill>
              <a:srgbClr val="3B5B9D"/>
            </a:solidFill>
          </c:spPr>
          <c:dPt>
            <c:idx val="0"/>
            <c:spPr>
              <a:solidFill>
                <a:srgbClr val="8DAEE6"/>
              </a:solidFill>
            </c:spPr>
          </c:dPt>
          <c:dPt>
            <c:idx val="1"/>
            <c:spPr>
              <a:solidFill>
                <a:srgbClr val="E87D2F"/>
              </a:solidFill>
            </c:spPr>
          </c:dPt>
          <c:dPt>
            <c:idx val="2"/>
            <c:spPr>
              <a:solidFill>
                <a:srgbClr val="3B5B9D"/>
              </a:solidFill>
            </c:spPr>
          </c:dPt>
          <c:dPt>
            <c:idx val="3"/>
            <c:spPr>
              <a:solidFill>
                <a:srgbClr val="3B5B9D"/>
              </a:solidFill>
            </c:spPr>
          </c:dPt>
          <c:dPt>
            <c:idx val="4"/>
            <c:spPr>
              <a:solidFill>
                <a:srgbClr val="3B5B9D"/>
              </a:solidFill>
            </c:spPr>
          </c:dPt>
          <c:dPt>
            <c:idx val="5"/>
            <c:spPr>
              <a:solidFill>
                <a:srgbClr val="8DAEE6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1100" b="1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2025
(прогноз)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155</c:v>
                </c:pt>
                <c:pt idx="1">
                  <c:v>295</c:v>
                </c:pt>
                <c:pt idx="2">
                  <c:v>470</c:v>
                </c:pt>
                <c:pt idx="3">
                  <c:v>575</c:v>
                </c:pt>
                <c:pt idx="4">
                  <c:v>725</c:v>
                </c:pt>
                <c:pt idx="5">
                  <c:v>1050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DDD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33333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Актуальность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6576"/>
          </a:xfrm>
          <a:prstGeom prst="rect">
            <a:avLst/>
          </a:prstGeom>
          <a:solidFill>
            <a:srgbClr val="3B5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Рост онлайн-торговли и проблема «последней мили» в удалённых населённых пунктах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554480"/>
          <a:ext cx="6766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4592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7D2F"/>
                </a:solidFill>
                <a:latin typeface="Calibri"/>
              </a:defRPr>
            </a:pPr>
            <a:r>
              <a:t>COVID-19  ↑ +90%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Источник: Data Insight, АКИТ, Росстат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554480"/>
            <a:ext cx="4297680" cy="9875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554480"/>
            <a:ext cx="64008" cy="987552"/>
          </a:xfrm>
          <a:prstGeom prst="rect">
            <a:avLst/>
          </a:prstGeom>
          <a:solidFill>
            <a:srgbClr val="2D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645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8F5E"/>
                </a:solidFill>
                <a:latin typeface="Calibri"/>
              </a:defRPr>
            </a:pPr>
            <a:r>
              <a:t>~37 млн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08483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россиян живут в сельской местности (25% населения РФ)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6459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Calibri"/>
              </a:defRPr>
            </a:pPr>
            <a:r>
              <a:t>Росстат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706624"/>
            <a:ext cx="4297680" cy="9875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706624"/>
            <a:ext cx="64008" cy="987552"/>
          </a:xfrm>
          <a:prstGeom prst="rect">
            <a:avLst/>
          </a:prstGeom>
          <a:solidFill>
            <a:srgbClr val="D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279806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63B3B"/>
                </a:solidFill>
                <a:latin typeface="Calibri"/>
              </a:defRPr>
            </a:pPr>
            <a:r>
              <a:t>&lt;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23697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сёл покрыты пунктами выдачи маркетплейсов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79806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Calibri"/>
              </a:defRPr>
            </a:pPr>
            <a:r>
              <a:t>Оценки 2023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3858768"/>
            <a:ext cx="4297680" cy="9875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3858768"/>
            <a:ext cx="64008" cy="987552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395020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7D2F"/>
                </a:solidFill>
                <a:latin typeface="Calibri"/>
              </a:defRPr>
            </a:pPr>
            <a:r>
              <a:t>в 2–5 раз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389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дороже «последняя миля» доставки в удалённых районах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3950207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Calibri"/>
              </a:defRPr>
            </a:pPr>
            <a:r>
              <a:t>РБК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5010912"/>
            <a:ext cx="4297680" cy="9875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5010912"/>
            <a:ext cx="64008" cy="987552"/>
          </a:xfrm>
          <a:prstGeom prst="rect">
            <a:avLst/>
          </a:prstGeom>
          <a:solidFill>
            <a:srgbClr val="3B5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51023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B5B9D"/>
                </a:solidFill>
                <a:latin typeface="Calibri"/>
              </a:defRPr>
            </a:pPr>
            <a:r>
              <a:t>30–50%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5412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экономия при консолидации заказов (совместные закупки)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51023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Calibri"/>
              </a:defRPr>
            </a:pPr>
            <a:r>
              <a:t>Эксп. оценки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89320"/>
            <a:ext cx="11338560" cy="640080"/>
          </a:xfrm>
          <a:prstGeom prst="roundRect">
            <a:avLst>
              <a:gd name="adj" fmla="val 4000"/>
            </a:avLst>
          </a:prstGeom>
          <a:solidFill>
            <a:srgbClr val="EAEFF7"/>
          </a:solidFill>
          <a:ln w="12700">
            <a:solidFill>
              <a:srgbClr val="C5D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Вывод: спрос на доставку стабильно растёт, но удалённые населённые пункты остаются недообслуженными. Совместные закупки — эффективная модель снижения логистических затрат для таких территорий.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