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Объём рынка e-grocery, млрд ₽</c:v>
                </c:pt>
              </c:strCache>
            </c:strRef>
          </c:tx>
          <c:spPr>
            <a:solidFill>
              <a:srgbClr val="4F46E5"/>
            </a:solidFill>
          </c:spPr>
          <c:dPt>
            <c:idx val="0"/>
            <c:spPr>
              <a:solidFill>
                <a:srgbClr val="81819B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4F46E5"/>
              </a:solidFill>
            </c:spPr>
          </c:dPt>
          <c:dPt>
            <c:idx val="3"/>
            <c:spPr>
              <a:solidFill>
                <a:srgbClr val="4F46E5"/>
              </a:solidFill>
            </c:spPr>
          </c:dPt>
          <c:dPt>
            <c:idx val="4"/>
            <c:spPr>
              <a:solidFill>
                <a:srgbClr val="4F46E5"/>
              </a:solidFill>
            </c:spPr>
          </c:dPt>
          <c:dPt>
            <c:idx val="5"/>
            <c:spPr>
              <a:solidFill>
                <a:srgbClr val="8181CB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2025
(прогноз)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155</c:v>
                </c:pt>
                <c:pt idx="1">
                  <c:v>295</c:v>
                </c:pt>
                <c:pt idx="2">
                  <c:v>470</c:v>
                </c:pt>
                <c:pt idx="3">
                  <c:v>575</c:v>
                </c:pt>
                <c:pt idx="4">
                  <c:v>725</c:v>
                </c:pt>
                <c:pt idx="5">
                  <c:v>1050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Актуальность разработки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Рост онлайн-торговли и проблема «последней мили» в удалённых населённых пунктах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463040"/>
          <a:ext cx="65836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1168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COVID-19  ↑ +90%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Источник: Data Insight, АКИТ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63040"/>
            <a:ext cx="4389120" cy="10515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46304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5361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~37 млн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D0"/>
                </a:solidFill>
                <a:latin typeface="Calibri"/>
              </a:defRPr>
            </a:pPr>
            <a:r>
              <a:t>россиян живут в сельской местности</a:t>
            </a:r>
            <a:br/>
            <a:r>
              <a:t>(25% населения РФ)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5361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Росстат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697480"/>
            <a:ext cx="4389120" cy="10515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2697480"/>
            <a:ext cx="54864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7706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&lt; 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2004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D0"/>
                </a:solidFill>
                <a:latin typeface="Calibri"/>
              </a:defRPr>
            </a:pPr>
            <a:r>
              <a:t>сёл покрыты пунктами выдачи</a:t>
            </a:r>
            <a:br/>
            <a:r>
              <a:t>маркетплейсов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Оценки 2023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931920"/>
            <a:ext cx="4389120" cy="10515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393192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40050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2–5×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434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D0"/>
                </a:solidFill>
                <a:latin typeface="Calibri"/>
              </a:defRPr>
            </a:pPr>
            <a:r>
              <a:t>дороже «последняя миля» доставки</a:t>
            </a:r>
            <a:br/>
            <a:r>
              <a:t>в удалённых районах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40050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РБК, 2022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5166360"/>
            <a:ext cx="4389120" cy="10515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5166360"/>
            <a:ext cx="54864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523951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46E5"/>
                </a:solidFill>
                <a:latin typeface="Calibri"/>
              </a:defRPr>
            </a:pPr>
            <a:r>
              <a:t>30–50%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6692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D0"/>
                </a:solidFill>
                <a:latin typeface="Calibri"/>
              </a:defRPr>
            </a:pPr>
            <a:r>
              <a:t>экономия при консолидации заказов</a:t>
            </a:r>
            <a:br/>
            <a:r>
              <a:t>в модели совместных закупок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52395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Экспертные оценки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943600"/>
            <a:ext cx="11338560" cy="685800"/>
          </a:xfrm>
          <a:prstGeom prst="roundRect">
            <a:avLst>
              <a:gd name="adj" fmla="val 5000"/>
            </a:avLst>
          </a:prstGeom>
          <a:solidFill>
            <a:srgbClr val="31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9893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F0"/>
                </a:solidFill>
                <a:latin typeface="Calibri"/>
              </a:defRPr>
            </a:pPr>
            <a:r>
              <a:t>→  Спрос на доставку стабильно растёт, но удалённые населённые пункты остаются недообслуженными. Совместные закупки — эффективная модель снижения логистических затрат для таких территорий.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